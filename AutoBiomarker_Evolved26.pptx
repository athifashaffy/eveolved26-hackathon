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371600"/>
            <a:ext cx="100584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5400" b="1">
                <a:solidFill>
                  <a:srgbClr val="FFFFFF"/>
                </a:solidFill>
                <a:latin typeface="Calibri"/>
              </a:defRPr>
            </a:pPr>
            <a:r>
              <a:t>AutoBiomarker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256032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0">
                <a:solidFill>
                  <a:srgbClr val="888888"/>
                </a:solidFill>
                <a:latin typeface="Calibri"/>
              </a:defRPr>
            </a:pPr>
            <a:r>
              <a:t>Autonomous Discovery of Depression Early Warning Signals</a:t>
            </a:r>
            <a:br/>
            <a:r>
              <a:t>from Wearable Data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84048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888888"/>
                </a:solidFill>
                <a:latin typeface="Calibri"/>
              </a:defRPr>
            </a:pPr>
            <a:r>
              <a:t>Evolved26 Toronto — March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475488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888888"/>
                </a:solidFill>
                <a:latin typeface="Calibri"/>
              </a:defRPr>
            </a:pPr>
            <a:r>
              <a:t>Nebius Token Factory  •  Karpathy Autoresearch  •  Temporal Dynamics Theory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00D4AA"/>
                </a:solidFill>
                <a:latin typeface="Calibri"/>
              </a:defRPr>
            </a:pPr>
            <a:r>
              <a:t>The Problem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71600" y="1097280"/>
            <a:ext cx="25603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800" b="1">
                <a:solidFill>
                  <a:srgbClr val="00D4AA"/>
                </a:solidFill>
                <a:latin typeface="Calibri"/>
              </a:defRPr>
            </a:pPr>
            <a:r>
              <a:t>280M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" y="1737360"/>
            <a:ext cx="2560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888888"/>
                </a:solidFill>
                <a:latin typeface="Calibri"/>
              </a:defRPr>
            </a:pPr>
            <a:r>
              <a:t>people with depression globally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754880" y="1097280"/>
            <a:ext cx="25603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800" b="1">
                <a:solidFill>
                  <a:srgbClr val="00D4AA"/>
                </a:solidFill>
                <a:latin typeface="Calibri"/>
              </a:defRPr>
            </a:pPr>
            <a:r>
              <a:t>50%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0" y="1737360"/>
            <a:ext cx="2560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888888"/>
                </a:solidFill>
                <a:latin typeface="Calibri"/>
              </a:defRPr>
            </a:pPr>
            <a:r>
              <a:t>drop out of treatment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138160" y="1097280"/>
            <a:ext cx="25603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800" b="1">
                <a:solidFill>
                  <a:srgbClr val="00D4AA"/>
                </a:solidFill>
                <a:latin typeface="Calibri"/>
              </a:defRPr>
            </a:pPr>
            <a:r>
              <a:t>75%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138160" y="1737360"/>
            <a:ext cx="2560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888888"/>
                </a:solidFill>
                <a:latin typeface="Calibri"/>
              </a:defRPr>
            </a:pPr>
            <a:r>
              <a:t>of depressed patients</a:t>
            </a:r>
            <a:br/>
            <a:r>
              <a:t>have sleep problems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14400" y="2926080"/>
            <a:ext cx="10058400" cy="1645920"/>
          </a:xfrm>
          <a:prstGeom prst="roundRect">
            <a:avLst/>
          </a:prstGeom>
          <a:solidFill>
            <a:srgbClr val="16162A"/>
          </a:solidFill>
          <a:ln w="12700">
            <a:solidFill>
              <a:srgbClr val="3333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88720" y="3108960"/>
            <a:ext cx="95097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E0E0E0"/>
                </a:solidFill>
                <a:latin typeface="Calibri"/>
              </a:defRPr>
            </a:pPr>
            <a:r>
              <a:t>Depression is gradual — patients don't "fall into" it, they drift.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88720" y="3566160"/>
            <a:ext cx="95097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FF6B6B"/>
                </a:solidFill>
                <a:latin typeface="Calibri"/>
              </a:defRPr>
            </a:pPr>
            <a:r>
              <a:t>By the time they report worsening, they've often dropped out.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88720" y="4023360"/>
            <a:ext cx="95097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00D4AA"/>
                </a:solidFill>
                <a:latin typeface="Calibri"/>
              </a:defRPr>
            </a:pPr>
            <a:r>
              <a:t>But sleep and physiology destabilize before patients notice — and sleep is treatable.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00D4AA"/>
                </a:solidFill>
                <a:latin typeface="Calibri"/>
              </a:defRPr>
            </a:pPr>
            <a:r>
              <a:t>The Insight: Destabilization Before Decline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097280"/>
            <a:ext cx="10515600" cy="1097280"/>
          </a:xfrm>
          <a:prstGeom prst="roundRect">
            <a:avLst/>
          </a:prstGeom>
          <a:solidFill>
            <a:srgbClr val="1A1530"/>
          </a:solidFill>
          <a:ln w="12700">
            <a:solidFill>
              <a:srgbClr val="3333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118872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0">
                <a:solidFill>
                  <a:srgbClr val="E0E0E0"/>
                </a:solidFill>
                <a:latin typeface="Calibri"/>
              </a:defRPr>
            </a:pPr>
            <a:r>
              <a:t>Depression worsens gradually. But as physiological regulation weakens,</a:t>
            </a:r>
            <a:br/>
            <a:r>
              <a:t>the body shows measurable signs: sleep becomes irregular, HRV becomes erratic, recovery slows.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2560320"/>
            <a:ext cx="4846320" cy="2011680"/>
          </a:xfrm>
          <a:prstGeom prst="roundRect">
            <a:avLst/>
          </a:prstGeom>
          <a:solidFill>
            <a:srgbClr val="16162A"/>
          </a:solidFill>
          <a:ln w="12700">
            <a:solidFill>
              <a:srgbClr val="3333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2651760"/>
            <a:ext cx="4389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6C5CE7"/>
                </a:solidFill>
                <a:latin typeface="Calibri"/>
              </a:defRPr>
            </a:pPr>
            <a:r>
              <a:t>Known from physics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3017520"/>
            <a:ext cx="43891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E0E0E0"/>
                </a:solidFill>
                <a:latin typeface="Calibri"/>
              </a:defRPr>
            </a:pPr>
            <a:r>
              <a:t>Systems under stress show rising variability</a:t>
            </a:r>
            <a:br/>
            <a:r>
              <a:t>and sluggish recovery — "critical slowing down"</a:t>
            </a:r>
            <a:br/>
            <a:br/>
            <a:r>
              <a:t>Proven in: Ecology • Climate • Finance • Mood (PNAS 2014)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43600" y="2560320"/>
            <a:ext cx="4846320" cy="2011680"/>
          </a:xfrm>
          <a:prstGeom prst="roundRect">
            <a:avLst/>
          </a:prstGeom>
          <a:solidFill>
            <a:srgbClr val="0D201C"/>
          </a:solidFill>
          <a:ln w="12700">
            <a:solidFill>
              <a:srgbClr val="3333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217920" y="2651760"/>
            <a:ext cx="4389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6C5CE7"/>
                </a:solidFill>
                <a:latin typeface="Calibri"/>
              </a:defRPr>
            </a:pPr>
            <a:r>
              <a:t>Our hypothesis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17920" y="3017520"/>
            <a:ext cx="43891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E0E0E0"/>
                </a:solidFill>
                <a:latin typeface="Calibri"/>
              </a:defRPr>
            </a:pPr>
            <a:r>
              <a:t>The same temporal patterns in wearable data</a:t>
            </a:r>
            <a:br/>
            <a:r>
              <a:t>can flag when a patient's regulation is destabilizing</a:t>
            </a:r>
            <a:br/>
            <a:br/>
            <a:r>
              <a:t>Not a sudden tipping point — a gradual loss of stability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00D4AA"/>
                </a:solidFill>
                <a:latin typeface="Calibri"/>
              </a:defRPr>
            </a:pPr>
            <a:r>
              <a:t>What Everyone Measures vs. What We Measure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188720"/>
            <a:ext cx="4846320" cy="1828800"/>
          </a:xfrm>
          <a:prstGeom prst="roundRect">
            <a:avLst/>
          </a:prstGeom>
          <a:solidFill>
            <a:srgbClr val="16162A"/>
          </a:solidFill>
          <a:ln w="12700">
            <a:solidFill>
              <a:srgbClr val="3333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1280160"/>
            <a:ext cx="4389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888888"/>
                </a:solidFill>
                <a:latin typeface="Calibri"/>
              </a:defRPr>
            </a:pPr>
            <a:r>
              <a:t>Standard Approach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1645920"/>
            <a:ext cx="43891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888888"/>
                </a:solidFill>
                <a:latin typeface="Calibri"/>
              </a:defRPr>
            </a:pPr>
            <a:r>
              <a:t>How low is your HRV?</a:t>
            </a:r>
            <a:br/>
            <a:br/>
            <a:r>
              <a:t>Single timepoint, cross-sectional</a:t>
            </a:r>
            <a:br/>
            <a:r>
              <a:t>Small effect sizes (d ≈ 0.3)</a:t>
            </a:r>
            <a:br/>
            <a:r>
              <a:t>Depression-specific? No — stress marker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943600" y="1188720"/>
            <a:ext cx="4846320" cy="1828800"/>
          </a:xfrm>
          <a:prstGeom prst="roundRect">
            <a:avLst/>
          </a:prstGeom>
          <a:solidFill>
            <a:srgbClr val="0D201C"/>
          </a:solidFill>
          <a:ln w="12700">
            <a:solidFill>
              <a:srgbClr val="3333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217920" y="1280160"/>
            <a:ext cx="4389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0D4AA"/>
                </a:solidFill>
                <a:latin typeface="Calibri"/>
              </a:defRPr>
            </a:pPr>
            <a:r>
              <a:t>Our Approach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0" y="1645920"/>
            <a:ext cx="43891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E0E0E0"/>
                </a:solidFill>
                <a:latin typeface="Calibri"/>
              </a:defRPr>
            </a:pPr>
            <a:r>
              <a:t>How unstable is your physiology over time?</a:t>
            </a:r>
            <a:br/>
            <a:br/>
            <a:r>
              <a:t>Temporal dynamics: autocorrelation, variance, CV</a:t>
            </a:r>
            <a:br/>
            <a:r>
              <a:t>Day-to-day patterns across 28 days</a:t>
            </a:r>
            <a:br/>
            <a:r>
              <a:t>Transdiagnostic — tracks stress regulation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3383280"/>
            <a:ext cx="10058400" cy="1097280"/>
          </a:xfrm>
          <a:prstGeom prst="roundRect">
            <a:avLst/>
          </a:prstGeom>
          <a:solidFill>
            <a:srgbClr val="16162A"/>
          </a:solidFill>
          <a:ln w="12700">
            <a:solidFill>
              <a:srgbClr val="3333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5840" y="3474720"/>
            <a:ext cx="95097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E0E0E0"/>
                </a:solidFill>
                <a:latin typeface="Calibri"/>
              </a:defRPr>
            </a:pPr>
            <a:r>
              <a:t>HRV and sleep are transdiagnostic stress markers (not depression-specific).</a:t>
            </a:r>
            <a:br/>
            <a:r>
              <a:t>This is a strength: our system monitors overall physiological regulation,</a:t>
            </a:r>
            <a:br/>
            <a:r>
              <a:t>with sleep as a directly treatable intervention target.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00D4AA"/>
                </a:solidFill>
                <a:latin typeface="Calibri"/>
              </a:defRPr>
            </a:pPr>
            <a:r>
              <a:t>The Autoresearch Loop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2296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888888"/>
                </a:solidFill>
                <a:latin typeface="Calibri"/>
              </a:defRPr>
            </a:pPr>
            <a:r>
              <a:t>Adapted from Karpathy's autoresearch for biomarker discovery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097280" y="1463040"/>
            <a:ext cx="2103120" cy="1188720"/>
          </a:xfrm>
          <a:prstGeom prst="roundRect">
            <a:avLst/>
          </a:prstGeom>
          <a:solidFill>
            <a:srgbClr val="1A1530"/>
          </a:solidFill>
          <a:ln w="12700">
            <a:solidFill>
              <a:srgbClr val="3333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88720" y="1554480"/>
            <a:ext cx="19202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Calibri"/>
              </a:defRPr>
            </a:pPr>
            <a:r>
              <a:t>Hypothesis</a:t>
            </a:r>
            <a:br/>
            <a:r>
              <a:t>Generator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88720" y="2103120"/>
            <a:ext cx="1920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888888"/>
                </a:solidFill>
                <a:latin typeface="Calibri"/>
              </a:defRPr>
            </a:pPr>
            <a:r>
              <a:t>Llama 3.3 70B</a:t>
            </a:r>
            <a:br/>
            <a:r>
              <a:t>on Nebius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0" y="1737360"/>
            <a:ext cx="640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0">
                <a:solidFill>
                  <a:srgbClr val="00D4AA"/>
                </a:solidFill>
                <a:latin typeface="Calibri"/>
              </a:defRPr>
            </a:pPr>
            <a:r>
              <a:t>→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840480" y="1463040"/>
            <a:ext cx="2103120" cy="1188720"/>
          </a:xfrm>
          <a:prstGeom prst="roundRect">
            <a:avLst/>
          </a:prstGeom>
          <a:solidFill>
            <a:srgbClr val="1A1530"/>
          </a:solidFill>
          <a:ln w="12700">
            <a:solidFill>
              <a:srgbClr val="3333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931920" y="1554480"/>
            <a:ext cx="19202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Calibri"/>
              </a:defRPr>
            </a:pPr>
            <a:r>
              <a:t>Feature</a:t>
            </a:r>
            <a:br/>
            <a:r>
              <a:t>Extractor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931920" y="2103120"/>
            <a:ext cx="1920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888888"/>
                </a:solidFill>
                <a:latin typeface="Calibri"/>
              </a:defRPr>
            </a:pPr>
            <a:r>
              <a:t>187+ temporal</a:t>
            </a:r>
            <a:br/>
            <a:r>
              <a:t>features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0" y="1737360"/>
            <a:ext cx="640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0">
                <a:solidFill>
                  <a:srgbClr val="00D4AA"/>
                </a:solidFill>
                <a:latin typeface="Calibri"/>
              </a:defRPr>
            </a:pPr>
            <a:r>
              <a:t>→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583680" y="1463040"/>
            <a:ext cx="2103120" cy="1188720"/>
          </a:xfrm>
          <a:prstGeom prst="roundRect">
            <a:avLst/>
          </a:prstGeom>
          <a:solidFill>
            <a:srgbClr val="1A1530"/>
          </a:solidFill>
          <a:ln w="12700">
            <a:solidFill>
              <a:srgbClr val="3333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75120" y="1554480"/>
            <a:ext cx="19202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Calibri"/>
              </a:defRPr>
            </a:pPr>
            <a:r>
              <a:t>Statistical</a:t>
            </a:r>
            <a:br/>
            <a:r>
              <a:t>Evaluator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75120" y="2103120"/>
            <a:ext cx="1920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888888"/>
                </a:solidFill>
                <a:latin typeface="Calibri"/>
              </a:defRPr>
            </a:pPr>
            <a:r>
              <a:t>LOSO-CV,</a:t>
            </a:r>
            <a:br/>
            <a:r>
              <a:t>AUC, FDR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86800" y="1737360"/>
            <a:ext cx="640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0">
                <a:solidFill>
                  <a:srgbClr val="00D4AA"/>
                </a:solidFill>
                <a:latin typeface="Calibri"/>
              </a:defRPr>
            </a:pPr>
            <a:r>
              <a:t>→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326880" y="1463040"/>
            <a:ext cx="2103120" cy="1188720"/>
          </a:xfrm>
          <a:prstGeom prst="roundRect">
            <a:avLst/>
          </a:prstGeom>
          <a:solidFill>
            <a:srgbClr val="0D201C"/>
          </a:solidFill>
          <a:ln w="12700">
            <a:solidFill>
              <a:srgbClr val="3333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418319" y="1554480"/>
            <a:ext cx="19202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Calibri"/>
              </a:defRPr>
            </a:pPr>
            <a:r>
              <a:t>KEEP /</a:t>
            </a:r>
            <a:br/>
            <a:r>
              <a:t>DISCARD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4400" y="301752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00D4AA"/>
                </a:solidFill>
                <a:latin typeface="Calibri"/>
              </a:defRPr>
            </a:pPr>
            <a:r>
              <a:t>← ← ← ← ← ← ← ← ← Results feed back into hypothesis generation ← ← ← ← ← ← ← ← ←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14400" y="3566160"/>
            <a:ext cx="10058400" cy="731520"/>
          </a:xfrm>
          <a:prstGeom prst="roundRect">
            <a:avLst/>
          </a:prstGeom>
          <a:solidFill>
            <a:srgbClr val="16162A"/>
          </a:solidFill>
          <a:ln w="12700">
            <a:solidFill>
              <a:srgbClr val="3333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188720" y="3657600"/>
            <a:ext cx="95097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E0E0E0"/>
                </a:solidFill>
                <a:latin typeface="Calibri"/>
              </a:defRPr>
            </a:pPr>
            <a:r>
              <a:t>Set it up before sleep. Wake up to 5,000 hypotheses tested with full statistical rigor.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00D4AA"/>
                </a:solidFill>
                <a:latin typeface="Calibri"/>
              </a:defRPr>
            </a:pPr>
            <a:r>
              <a:t>Results: Baigutanova Dataset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71600" y="1097280"/>
            <a:ext cx="25603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800" b="1">
                <a:solidFill>
                  <a:srgbClr val="00D4AA"/>
                </a:solidFill>
                <a:latin typeface="Calibri"/>
              </a:defRPr>
            </a:pPr>
            <a:r>
              <a:t>5,000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" y="1737360"/>
            <a:ext cx="2560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888888"/>
                </a:solidFill>
                <a:latin typeface="Calibri"/>
              </a:defRPr>
            </a:pPr>
            <a:r>
              <a:t>feature-tests run autonomously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754880" y="1097280"/>
            <a:ext cx="25603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800" b="1">
                <a:solidFill>
                  <a:srgbClr val="00D4AA"/>
                </a:solidFill>
                <a:latin typeface="Calibri"/>
              </a:defRPr>
            </a:pPr>
            <a:r>
              <a:t>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0" y="1737360"/>
            <a:ext cx="2560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888888"/>
                </a:solidFill>
                <a:latin typeface="Calibri"/>
              </a:defRPr>
            </a:pPr>
            <a:r>
              <a:t>significant after FDR</a:t>
            </a:r>
            <a:br/>
            <a:r>
              <a:t>(p_adj &lt; 0.05)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138160" y="1097280"/>
            <a:ext cx="25603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800" b="1">
                <a:solidFill>
                  <a:srgbClr val="00D4AA"/>
                </a:solidFill>
                <a:latin typeface="Calibri"/>
              </a:defRPr>
            </a:pPr>
            <a:r>
              <a:t>0.76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138160" y="1737360"/>
            <a:ext cx="2560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888888"/>
                </a:solidFill>
                <a:latin typeface="Calibri"/>
              </a:defRPr>
            </a:pPr>
            <a:r>
              <a:t>best interaction AUC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14400" y="2926080"/>
            <a:ext cx="10058400" cy="1828800"/>
          </a:xfrm>
          <a:prstGeom prst="roundRect">
            <a:avLst/>
          </a:prstGeom>
          <a:solidFill>
            <a:srgbClr val="0D201C"/>
          </a:solidFill>
          <a:ln w="12700">
            <a:solidFill>
              <a:srgbClr val="3333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88720" y="3017520"/>
            <a:ext cx="9509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0D4AA"/>
                </a:solidFill>
                <a:latin typeface="Calibri"/>
              </a:defRPr>
            </a:pPr>
            <a:r>
              <a:t>Top: LF/HF 21d slope x sleep quality — AUC 0.76, d=1.06, p_adj=0.02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88720" y="3474720"/>
            <a:ext cx="9509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E0E0E0"/>
                </a:solidFill>
                <a:latin typeface="Calibri"/>
              </a:defRPr>
            </a:pPr>
            <a:r>
              <a:t>Also: RMSSD slope x sleep dur autocorr (d=1.11, p_adj=0.006), RMSSD slope x LF/HF slope (d=0.92, p_adj=0.004)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88720" y="3931920"/>
            <a:ext cx="9509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E0E0E0"/>
                </a:solidFill>
                <a:latin typeface="Calibri"/>
              </a:defRPr>
            </a:pPr>
            <a:r>
              <a:t>All significant features are HRV x sleep interactions — multi-system destabilization is key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88720" y="4389120"/>
            <a:ext cx="9509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888888"/>
                </a:solidFill>
                <a:latin typeface="Calibri"/>
              </a:defRPr>
            </a:pPr>
            <a:r>
              <a:t>50 LLM-guided rounds (271 tests), per-round BH-FDR at n=49. Total LLM cost: $0.22.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400" b="1">
                <a:solidFill>
                  <a:srgbClr val="00D4AA"/>
                </a:solidFill>
                <a:latin typeface="Calibri"/>
              </a:defRPr>
            </a:pPr>
            <a:r>
              <a:t>Trained Prediction Model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71600" y="1005840"/>
            <a:ext cx="25603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800" b="1">
                <a:solidFill>
                  <a:srgbClr val="00D4AA"/>
                </a:solidFill>
                <a:latin typeface="Calibri"/>
              </a:defRPr>
            </a:pPr>
            <a:r>
              <a:t>0.76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" y="1645920"/>
            <a:ext cx="2560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888888"/>
                </a:solidFill>
                <a:latin typeface="Calibri"/>
              </a:defRPr>
            </a:pPr>
            <a:r>
              <a:t>AUC (best interaction)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754880" y="1005840"/>
            <a:ext cx="25603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800" b="1">
                <a:solidFill>
                  <a:srgbClr val="00D4AA"/>
                </a:solidFill>
                <a:latin typeface="Calibri"/>
              </a:defRPr>
            </a:pPr>
            <a:r>
              <a:t>0.69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0" y="1645920"/>
            <a:ext cx="2560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888888"/>
                </a:solidFill>
                <a:latin typeface="Calibri"/>
              </a:defRPr>
            </a:pPr>
            <a:r>
              <a:t>AUC (LOSO-CV model)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138160" y="1005840"/>
            <a:ext cx="25603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800" b="1">
                <a:solidFill>
                  <a:srgbClr val="00D4AA"/>
                </a:solidFill>
                <a:latin typeface="Calibri"/>
              </a:defRPr>
            </a:pPr>
            <a:r>
              <a:t>49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138160" y="1645920"/>
            <a:ext cx="2560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888888"/>
                </a:solidFill>
                <a:latin typeface="Calibri"/>
              </a:defRPr>
            </a:pPr>
            <a:r>
              <a:t>subjects (LOSO-CV)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2560320"/>
            <a:ext cx="5029200" cy="2194560"/>
          </a:xfrm>
          <a:prstGeom prst="roundRect">
            <a:avLst/>
          </a:prstGeom>
          <a:solidFill>
            <a:srgbClr val="16162A"/>
          </a:solidFill>
          <a:ln w="12700">
            <a:solidFill>
              <a:srgbClr val="3333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5840" y="265176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6C5CE7"/>
                </a:solidFill>
                <a:latin typeface="Calibri"/>
              </a:defRPr>
            </a:pPr>
            <a:r>
              <a:t>Architecture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3017520"/>
            <a:ext cx="45720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E0E0E0"/>
                </a:solidFill>
                <a:latin typeface="Calibri"/>
              </a:defRPr>
            </a:pPr>
            <a:r>
              <a:t>• Feature selection INSIDE each CV fold (no leakage)</a:t>
            </a:r>
            <a:br/>
            <a:r>
              <a:t>• Leave-one-subject-out cross-validation</a:t>
            </a:r>
            <a:br/>
            <a:r>
              <a:t>• 732 candidate features → 50 selected per fold</a:t>
            </a:r>
            <a:br/>
            <a:r>
              <a:t>• MLP Neural Net + autoresearch features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26480" y="2560320"/>
            <a:ext cx="5029200" cy="2194560"/>
          </a:xfrm>
          <a:prstGeom prst="roundRect">
            <a:avLst/>
          </a:prstGeom>
          <a:solidFill>
            <a:srgbClr val="0D201C"/>
          </a:solidFill>
          <a:ln w="12700">
            <a:solidFill>
              <a:srgbClr val="3333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0" y="265176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6C5CE7"/>
                </a:solidFill>
                <a:latin typeface="Calibri"/>
              </a:defRPr>
            </a:pPr>
            <a:r>
              <a:t>Significant Interactions (FDR&lt;0.05)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0" y="3017520"/>
            <a:ext cx="45720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E0E0E0"/>
                </a:solidFill>
                <a:latin typeface="Calibri"/>
              </a:defRPr>
            </a:pPr>
            <a:r>
              <a:t>• LF/HF slope × sleep quality (AUC 0.76, d=1.06)</a:t>
            </a:r>
            <a:br/>
            <a:r>
              <a:t>• RMSSD slope × sleep dur autocorr (d=1.11)</a:t>
            </a:r>
            <a:br/>
            <a:r>
              <a:t>• RMSSD slope × LF/HF slope (d=0.92)</a:t>
            </a:r>
            <a:br/>
            <a:r>
              <a:t>• LF/HF slope × sleep latency (AUC 0.70)</a:t>
            </a:r>
            <a:br/>
            <a:r>
              <a:t>• All cross HRV × sleep domains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493776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00D4AA"/>
                </a:solidFill>
                <a:latin typeface="Calibri"/>
              </a:defRPr>
            </a:pPr>
            <a:r>
              <a:t>HRV × sleep interactions outperform single features — multi-system destabilization is the signal.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400" b="1">
                <a:solidFill>
                  <a:srgbClr val="00D4AA"/>
                </a:solidFill>
                <a:latin typeface="Calibri"/>
              </a:defRPr>
            </a:pPr>
            <a:r>
              <a:t>Self-Improving Discovery Engine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1097280" y="1097280"/>
            <a:ext cx="2103120" cy="1005840"/>
          </a:xfrm>
          <a:prstGeom prst="roundRect">
            <a:avLst/>
          </a:prstGeom>
          <a:solidFill>
            <a:srgbClr val="1A1530"/>
          </a:solidFill>
          <a:ln w="12700">
            <a:solidFill>
              <a:srgbClr val="3333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88720" y="1143000"/>
            <a:ext cx="1920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Calibri"/>
              </a:defRPr>
            </a:pPr>
            <a:r>
              <a:t>Round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88720" y="1600200"/>
            <a:ext cx="1920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888888"/>
                </a:solidFill>
                <a:latin typeface="Calibri"/>
              </a:defRPr>
            </a:pPr>
            <a:r>
              <a:t>Broad sweep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0" y="1280160"/>
            <a:ext cx="640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0">
                <a:solidFill>
                  <a:srgbClr val="00D4AA"/>
                </a:solidFill>
                <a:latin typeface="Calibri"/>
              </a:defRPr>
            </a:pPr>
            <a:r>
              <a:t>→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840480" y="1097280"/>
            <a:ext cx="2103120" cy="1005840"/>
          </a:xfrm>
          <a:prstGeom prst="roundRect">
            <a:avLst/>
          </a:prstGeom>
          <a:solidFill>
            <a:srgbClr val="1A1530"/>
          </a:solidFill>
          <a:ln w="12700">
            <a:solidFill>
              <a:srgbClr val="3333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931920" y="1143000"/>
            <a:ext cx="1920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Calibri"/>
              </a:defRPr>
            </a:pPr>
            <a:r>
              <a:t>5,000 tested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931920" y="1600200"/>
            <a:ext cx="1920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888888"/>
                </a:solidFill>
                <a:latin typeface="Calibri"/>
              </a:defRPr>
            </a:pPr>
            <a:r>
              <a:t>137 promising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0" y="1280160"/>
            <a:ext cx="640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0">
                <a:solidFill>
                  <a:srgbClr val="00D4AA"/>
                </a:solidFill>
                <a:latin typeface="Calibri"/>
              </a:defRPr>
            </a:pPr>
            <a:r>
              <a:t>→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583680" y="1097280"/>
            <a:ext cx="2103120" cy="1005840"/>
          </a:xfrm>
          <a:prstGeom prst="roundRect">
            <a:avLst/>
          </a:prstGeom>
          <a:solidFill>
            <a:srgbClr val="0D201C"/>
          </a:solidFill>
          <a:ln w="12700">
            <a:solidFill>
              <a:srgbClr val="3333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675120" y="1143000"/>
            <a:ext cx="1920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Calibri"/>
              </a:defRPr>
            </a:pPr>
            <a:r>
              <a:t>Feed back</a:t>
            </a:r>
            <a:br/>
            <a:r>
              <a:t>to LLM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75120" y="1600200"/>
            <a:ext cx="1920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888888"/>
                </a:solidFill>
                <a:latin typeface="Calibri"/>
              </a:defRPr>
            </a:pPr>
            <a:r>
              <a:t>Top findings + nulls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0" y="1280160"/>
            <a:ext cx="640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0">
                <a:solidFill>
                  <a:srgbClr val="00D4AA"/>
                </a:solidFill>
                <a:latin typeface="Calibri"/>
              </a:defRPr>
            </a:pPr>
            <a:r>
              <a:t>→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326880" y="1097280"/>
            <a:ext cx="2103120" cy="1005840"/>
          </a:xfrm>
          <a:prstGeom prst="roundRect">
            <a:avLst/>
          </a:prstGeom>
          <a:solidFill>
            <a:srgbClr val="0D201C"/>
          </a:solidFill>
          <a:ln w="12700">
            <a:solidFill>
              <a:srgbClr val="3333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418319" y="1143000"/>
            <a:ext cx="1920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1">
                <a:solidFill>
                  <a:srgbClr val="00D4AA"/>
                </a:solidFill>
                <a:latin typeface="Calibri"/>
              </a:defRPr>
            </a:pPr>
            <a:r>
              <a:t>50 rounds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18319" y="1600200"/>
            <a:ext cx="1920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0D4AA"/>
                </a:solidFill>
                <a:latin typeface="Calibri"/>
              </a:defRPr>
            </a:pPr>
            <a:r>
              <a:t>3 significant!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31520" y="2560320"/>
            <a:ext cx="4846320" cy="1371600"/>
          </a:xfrm>
          <a:prstGeom prst="roundRect">
            <a:avLst/>
          </a:prstGeom>
          <a:solidFill>
            <a:srgbClr val="16162A"/>
          </a:solidFill>
          <a:ln w="12700">
            <a:solidFill>
              <a:srgbClr val="3333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05840" y="2651760"/>
            <a:ext cx="4389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888888"/>
                </a:solidFill>
                <a:latin typeface="Calibri"/>
              </a:defRPr>
            </a:pPr>
            <a:r>
              <a:t>Round 1 (broad)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05840" y="2926080"/>
            <a:ext cx="4389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E0E0E0"/>
                </a:solidFill>
                <a:latin typeface="Calibri"/>
              </a:defRPr>
            </a:pPr>
            <a:r>
              <a:t>5,000 hypotheses • 137 promising pre-FDR</a:t>
            </a:r>
            <a:br/>
            <a:r>
              <a:t>0 after strict BH-FDR across 5,000 tests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943600" y="2560320"/>
            <a:ext cx="4846320" cy="1371600"/>
          </a:xfrm>
          <a:prstGeom prst="roundRect">
            <a:avLst/>
          </a:prstGeom>
          <a:solidFill>
            <a:srgbClr val="0D201C"/>
          </a:solidFill>
          <a:ln w="12700">
            <a:solidFill>
              <a:srgbClr val="3333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217920" y="2651760"/>
            <a:ext cx="4389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00D4AA"/>
                </a:solidFill>
                <a:latin typeface="Calibri"/>
              </a:defRPr>
            </a:pPr>
            <a:r>
              <a:t>Rounds 2-50 (LLM-guided)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17920" y="2926080"/>
            <a:ext cx="4389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E0E0E0"/>
                </a:solidFill>
                <a:latin typeface="Calibri"/>
              </a:defRPr>
            </a:pPr>
            <a:r>
              <a:t>271 targeted hypotheses • 3 survived FDR</a:t>
            </a:r>
            <a:br/>
            <a:r>
              <a:t>Best: lfhf_slope × sleep_qual (AUC 0.76)</a:t>
            </a:r>
            <a:br/>
            <a:r>
              <a:t>Total cost: $0.22 on Nebius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1520" y="420624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888888"/>
                </a:solidFill>
                <a:latin typeface="Calibri"/>
              </a:defRPr>
            </a:pPr>
            <a:r>
              <a:t>Small rounds (8 tests) keep FDR mild. LLM adapts each round. $0.22 total for 50 rounds of discovery.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400" b="1">
                <a:solidFill>
                  <a:srgbClr val="00D4AA"/>
                </a:solidFill>
                <a:latin typeface="Calibri"/>
              </a:defRPr>
            </a:pPr>
            <a:r>
              <a:t>Methods: Model &amp; Evaluation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097280"/>
            <a:ext cx="4846320" cy="2560320"/>
          </a:xfrm>
          <a:prstGeom prst="roundRect">
            <a:avLst/>
          </a:prstGeom>
          <a:solidFill>
            <a:srgbClr val="0D201C"/>
          </a:solidFill>
          <a:ln w="12700">
            <a:solidFill>
              <a:srgbClr val="3333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1188720"/>
            <a:ext cx="4389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00D4AA"/>
                </a:solidFill>
                <a:latin typeface="Calibri"/>
              </a:defRPr>
            </a:pPr>
            <a:r>
              <a:t>Data Split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1554480"/>
            <a:ext cx="43891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E0E0E0"/>
                </a:solidFill>
                <a:latin typeface="Calibri"/>
              </a:defRPr>
            </a:pPr>
            <a:r>
              <a:t>49 subjects (Baigutanova et al. 2025)</a:t>
            </a:r>
            <a:br/>
            <a:r>
              <a:t>Stratified by PHQ-9 status</a:t>
            </a:r>
            <a:br/>
            <a:br/>
            <a:r>
              <a:t>Discovery: 33 subjects (70%)</a:t>
            </a:r>
            <a:br/>
            <a:r>
              <a:t>Validation: 16 subjects (30%)</a:t>
            </a:r>
            <a:br/>
            <a:br/>
            <a:r>
              <a:t>Class ratio preserved in both sets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943600" y="1097280"/>
            <a:ext cx="4846320" cy="2560320"/>
          </a:xfrm>
          <a:prstGeom prst="roundRect">
            <a:avLst/>
          </a:prstGeom>
          <a:solidFill>
            <a:srgbClr val="16162A"/>
          </a:solidFill>
          <a:ln w="12700">
            <a:solidFill>
              <a:srgbClr val="3333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217920" y="1188720"/>
            <a:ext cx="4389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6C5CE7"/>
                </a:solidFill>
                <a:latin typeface="Calibri"/>
              </a:defRPr>
            </a:pPr>
            <a:r>
              <a:t>Classifier Pipeline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0" y="1554480"/>
            <a:ext cx="43891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E0E0E0"/>
                </a:solidFill>
                <a:latin typeface="Calibri"/>
              </a:defRPr>
            </a:pPr>
            <a:r>
              <a:t>1. 187 temporal features (autocorr, CV, slope, std)</a:t>
            </a:r>
            <a:br/>
            <a:r>
              <a:t>   over 3/7/14/21-day windows</a:t>
            </a:r>
            <a:br/>
            <a:r>
              <a:t>2. HRV x sleep cross-domain interactions</a:t>
            </a:r>
            <a:br/>
            <a:r>
              <a:t>3. Per-subject z-scored composites</a:t>
            </a:r>
            <a:br/>
            <a:r>
              <a:t>4. LOSO-CV — feature selection INSIDE each fold</a:t>
            </a:r>
            <a:br/>
            <a:r>
              <a:t>5. Logistic Regression with top-10 features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3931920"/>
            <a:ext cx="10515600" cy="731520"/>
          </a:xfrm>
          <a:prstGeom prst="roundRect">
            <a:avLst/>
          </a:prstGeom>
          <a:solidFill>
            <a:srgbClr val="16162A"/>
          </a:solidFill>
          <a:ln w="12700">
            <a:solidFill>
              <a:srgbClr val="3333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5840" y="402336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00D4AA"/>
                </a:solidFill>
                <a:latin typeface="Calibri"/>
              </a:defRPr>
            </a:pPr>
            <a:r>
              <a:t>Key: Feature selection inside CV folds prevents data leakage. Subject-level stats prevent pseudoreplication.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400" b="1">
                <a:solidFill>
                  <a:srgbClr val="00D4AA"/>
                </a:solidFill>
                <a:latin typeface="Calibri"/>
              </a:defRPr>
            </a:pPr>
            <a:r>
              <a:t>Validation: Is It Overfitted?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2296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888888"/>
                </a:solidFill>
                <a:latin typeface="Calibri"/>
              </a:defRPr>
            </a:pPr>
            <a:r>
              <a:t>We ran 4 independent validation tests to verify our findings are real.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280160"/>
            <a:ext cx="5212080" cy="2743200"/>
          </a:xfrm>
          <a:prstGeom prst="roundRect">
            <a:avLst/>
          </a:prstGeom>
          <a:solidFill>
            <a:srgbClr val="0D201C"/>
          </a:solidFill>
          <a:ln w="12700">
            <a:solidFill>
              <a:srgbClr val="3333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05840" y="1371600"/>
            <a:ext cx="4754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00D4AA"/>
                </a:solidFill>
                <a:latin typeface="Calibri"/>
              </a:defRPr>
            </a:pPr>
            <a:r>
              <a:t>Permutation Test (gold standard)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1737360"/>
            <a:ext cx="475488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E0E0E0"/>
                </a:solidFill>
                <a:latin typeface="Calibri"/>
              </a:defRPr>
            </a:pPr>
            <a:r>
              <a:t>Shuffled depression labels 100 times, re-ran analysis</a:t>
            </a:r>
            <a:br/>
            <a:br/>
            <a:r>
              <a:t>RMSSD slope x sleep dur:  real d=1.11, null=0.26  →  0/100 beat</a:t>
            </a:r>
            <a:br/>
            <a:r>
              <a:t>RMSSD slope x LF/HF:      real d=0.92, null=0.22  →  0/100 beat</a:t>
            </a:r>
            <a:br/>
            <a:r>
              <a:t>LF/HF slope x sleep qual:  real d=1.06, null=0.30  →  3/100 beat</a:t>
            </a:r>
            <a:br/>
            <a:br/>
            <a:r>
              <a:t>0 out of 20 full shuffled simulations produced</a:t>
            </a:r>
            <a:br/>
            <a:r>
              <a:t>ANY significant finding. Real data: 3.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280160"/>
            <a:ext cx="5212080" cy="2743200"/>
          </a:xfrm>
          <a:prstGeom prst="roundRect">
            <a:avLst/>
          </a:prstGeom>
          <a:solidFill>
            <a:srgbClr val="16162A"/>
          </a:solidFill>
          <a:ln w="12700">
            <a:solidFill>
              <a:srgbClr val="3333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92240" y="1371600"/>
            <a:ext cx="4754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6C5CE7"/>
                </a:solidFill>
                <a:latin typeface="Calibri"/>
              </a:defRPr>
            </a:pPr>
            <a:r>
              <a:t>Hold-Out Validation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92240" y="1737360"/>
            <a:ext cx="475488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E0E0E0"/>
                </a:solidFill>
                <a:latin typeface="Calibri"/>
              </a:defRPr>
            </a:pPr>
            <a:r>
              <a:t>33 discovery / 16 validation (stratified split)</a:t>
            </a:r>
            <a:br/>
            <a:br/>
            <a:r>
              <a:t>RMSSD x sleep dur:   disc d=1.09 → val d=1.08  ✓ Consistent</a:t>
            </a:r>
            <a:br/>
            <a:r>
              <a:t>RMSSD x LF/HF:       disc d=0.55 → val d=1.95  ✓ Consistent</a:t>
            </a:r>
            <a:br/>
            <a:r>
              <a:t>LF/HF x sleep qual:   disc d=0.89 → val d=1.54  ✓ Consistent</a:t>
            </a:r>
            <a:br/>
            <a:br/>
            <a:r>
              <a:t>All 3 effect directions consistent.</a:t>
            </a:r>
            <a:br/>
            <a:r>
              <a:t>2/3 reach p&lt;0.05 in held-out set.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4297680"/>
            <a:ext cx="10515600" cy="731520"/>
          </a:xfrm>
          <a:prstGeom prst="roundRect">
            <a:avLst/>
          </a:prstGeom>
          <a:solidFill>
            <a:srgbClr val="16162A"/>
          </a:solidFill>
          <a:ln w="12700">
            <a:solidFill>
              <a:srgbClr val="3333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438912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1">
                <a:solidFill>
                  <a:srgbClr val="00D4AA"/>
                </a:solidFill>
                <a:latin typeface="Calibri"/>
              </a:defRPr>
            </a:pPr>
            <a:r>
              <a:t>Verdict: Not overfitted. Real effects 3-4x larger than null. Effects replicate in unseen subjects.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00D4AA"/>
                </a:solidFill>
                <a:latin typeface="Calibri"/>
              </a:defRPr>
            </a:pPr>
            <a:r>
              <a:t>Why This Matters Clinically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005840"/>
            <a:ext cx="10515600" cy="1188720"/>
          </a:xfrm>
          <a:prstGeom prst="roundRect">
            <a:avLst/>
          </a:prstGeom>
          <a:solidFill>
            <a:srgbClr val="1A1530"/>
          </a:solidFill>
          <a:ln w="12700">
            <a:solidFill>
              <a:srgbClr val="3333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109728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0">
                <a:solidFill>
                  <a:srgbClr val="E0E0E0"/>
                </a:solidFill>
                <a:latin typeface="Calibri"/>
              </a:defRPr>
            </a:pPr>
            <a:r>
              <a:t>"The good thing with sleep problems is: if you treat them it hits two birds</a:t>
            </a:r>
            <a:br/>
            <a:r>
              <a:t>with one stone — a bothering problem that also triggers other symptoms."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1828800"/>
            <a:ext cx="10058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888888"/>
                </a:solidFill>
                <a:latin typeface="Calibri"/>
              </a:defRPr>
            </a:pPr>
            <a:r>
              <a:t>— Prof. Dr. Steffen Moritz, Uni of Hamburg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2560320"/>
            <a:ext cx="4846320" cy="1828800"/>
          </a:xfrm>
          <a:prstGeom prst="roundRect">
            <a:avLst/>
          </a:prstGeom>
          <a:solidFill>
            <a:srgbClr val="16162A"/>
          </a:solidFill>
          <a:ln w="12700">
            <a:solidFill>
              <a:srgbClr val="3333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651760"/>
            <a:ext cx="4389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6C5CE7"/>
                </a:solidFill>
                <a:latin typeface="Calibri"/>
              </a:defRPr>
            </a:pPr>
            <a:r>
              <a:t>The Problem with Biomarkers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2926080"/>
            <a:ext cx="43891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E0E0E0"/>
                </a:solidFill>
                <a:latin typeface="Calibri"/>
              </a:defRPr>
            </a:pPr>
            <a:r>
              <a:t>• Predictive value of single biomarkers is never high</a:t>
            </a:r>
            <a:br/>
            <a:r>
              <a:t>• Depression is gradual, not a sudden episode</a:t>
            </a:r>
            <a:br/>
            <a:r>
              <a:t>• HRV/sleep are stress markers, not depression-specific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943600" y="2560320"/>
            <a:ext cx="4846320" cy="1828800"/>
          </a:xfrm>
          <a:prstGeom prst="roundRect">
            <a:avLst/>
          </a:prstGeom>
          <a:solidFill>
            <a:srgbClr val="0D201C"/>
          </a:solidFill>
          <a:ln w="12700">
            <a:solidFill>
              <a:srgbClr val="3333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217920" y="2651760"/>
            <a:ext cx="4389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00D4AA"/>
                </a:solidFill>
                <a:latin typeface="Calibri"/>
              </a:defRPr>
            </a:pPr>
            <a:r>
              <a:t>Our Answer: Monitor + Intervene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17920" y="2926080"/>
            <a:ext cx="43891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E0E0E0"/>
                </a:solidFill>
                <a:latin typeface="Calibri"/>
              </a:defRPr>
            </a:pPr>
            <a:r>
              <a:t>• Detect sleep destabilization early from wearables</a:t>
            </a:r>
            <a:br/>
            <a:r>
              <a:t>• Sleep is directly treatable (CBT-I, hygiene, meds)</a:t>
            </a:r>
            <a:br/>
            <a:r>
              <a:t>• Treating sleep improves depression, anxiety, stress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4663440"/>
            <a:ext cx="10515600" cy="731520"/>
          </a:xfrm>
          <a:prstGeom prst="roundRect">
            <a:avLst/>
          </a:prstGeom>
          <a:solidFill>
            <a:srgbClr val="16162A"/>
          </a:solidFill>
          <a:ln w="12700">
            <a:solidFill>
              <a:srgbClr val="3333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5840" y="475488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E0E0E0"/>
                </a:solidFill>
                <a:latin typeface="Calibri"/>
              </a:defRPr>
            </a:pPr>
            <a:r>
              <a:t>We don't diagnose depression. We flag physiological destabilization — especially sleep —</a:t>
            </a:r>
            <a:br/>
            <a:r>
              <a:t>so clinicians can intervene before patients drop out.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00D4AA"/>
                </a:solidFill>
                <a:latin typeface="Calibri"/>
              </a:defRPr>
            </a:pPr>
            <a:r>
              <a:t>Two Products, One Engine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097280"/>
            <a:ext cx="4846320" cy="2743200"/>
          </a:xfrm>
          <a:prstGeom prst="roundRect">
            <a:avLst/>
          </a:prstGeom>
          <a:solidFill>
            <a:srgbClr val="0D201C"/>
          </a:solidFill>
          <a:ln w="12700">
            <a:solidFill>
              <a:srgbClr val="3333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1188720"/>
            <a:ext cx="4389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00D4AA"/>
                </a:solidFill>
                <a:latin typeface="Calibri"/>
              </a:defRPr>
            </a:pPr>
            <a:r>
              <a:t>Product 1: Discovery Engine (R&amp;D Tool)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1554480"/>
            <a:ext cx="43891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E0E0E0"/>
                </a:solidFill>
                <a:latin typeface="Calibri"/>
              </a:defRPr>
            </a:pPr>
            <a:r>
              <a:t>The autoresearch loop — sold to pharma for</a:t>
            </a:r>
            <a:br/>
            <a:r>
              <a:t>digital endpoint discovery in clinical trials</a:t>
            </a:r>
            <a:br/>
            <a:br/>
            <a:r>
              <a:t>• Not a medical device — internal R&amp;D tool</a:t>
            </a:r>
            <a:br/>
            <a:r>
              <a:t>• No regulatory burden on discovery process</a:t>
            </a:r>
            <a:br/>
            <a:r>
              <a:t>• Revenue: per-trial licensing to pharma CROs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943600" y="1097280"/>
            <a:ext cx="4846320" cy="2743200"/>
          </a:xfrm>
          <a:prstGeom prst="roundRect">
            <a:avLst/>
          </a:prstGeom>
          <a:solidFill>
            <a:srgbClr val="16162A"/>
          </a:solidFill>
          <a:ln w="12700">
            <a:solidFill>
              <a:srgbClr val="3333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217920" y="1188720"/>
            <a:ext cx="4389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6C5CE7"/>
                </a:solidFill>
                <a:latin typeface="Calibri"/>
              </a:defRPr>
            </a:pPr>
            <a:r>
              <a:t>Product 2: Monitoring Dashboard (SaMD)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0" y="1554480"/>
            <a:ext cx="43891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E0E0E0"/>
                </a:solidFill>
                <a:latin typeface="Calibri"/>
              </a:defRPr>
            </a:pPr>
            <a:r>
              <a:t>Static, validated model for clinical monitoring</a:t>
            </a:r>
            <a:br/>
            <a:br/>
            <a:r>
              <a:t>• Health Canada SaMD Class II</a:t>
            </a:r>
            <a:br/>
            <a:r>
              <a:t>• Locked model — no autonomous changes</a:t>
            </a:r>
            <a:br/>
            <a:r>
              <a:t>• Clinical decision support, not diagnosis</a:t>
            </a:r>
            <a:br/>
            <a:r>
              <a:t>• Revenue: per-patient SaaS to hospitals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4114800"/>
            <a:ext cx="10515600" cy="914400"/>
          </a:xfrm>
          <a:prstGeom prst="roundRect">
            <a:avLst/>
          </a:prstGeom>
          <a:solidFill>
            <a:srgbClr val="16162A"/>
          </a:solidFill>
          <a:ln w="12700">
            <a:solidFill>
              <a:srgbClr val="3333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5840" y="420624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E0E0E0"/>
                </a:solidFill>
                <a:latin typeface="Calibri"/>
              </a:defRPr>
            </a:pPr>
            <a:r>
              <a:t>The discovery engine evolves freely. The clinical product is a snapshot —</a:t>
            </a:r>
            <a:br/>
            <a:r>
              <a:t>frozen, validated, regulatable. New discoveries trigger a new submission, not a moving target.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00D4AA"/>
                </a:solidFill>
                <a:latin typeface="Calibri"/>
              </a:defRPr>
            </a:pPr>
            <a:r>
              <a:t>Confounder-Aware Discovery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005840"/>
            <a:ext cx="10515600" cy="640080"/>
          </a:xfrm>
          <a:prstGeom prst="roundRect">
            <a:avLst/>
          </a:prstGeom>
          <a:solidFill>
            <a:srgbClr val="16162A"/>
          </a:solidFill>
          <a:ln w="12700">
            <a:solidFill>
              <a:srgbClr val="3333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109728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0">
                <a:solidFill>
                  <a:srgbClr val="FF6B6B"/>
                </a:solidFill>
                <a:latin typeface="Calibri"/>
              </a:defRPr>
            </a:pPr>
            <a:r>
              <a:t>A "depression signal" in HRV might actually be caffeine, alcohol, or exercise.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2011680"/>
            <a:ext cx="4846320" cy="2286000"/>
          </a:xfrm>
          <a:prstGeom prst="roundRect">
            <a:avLst/>
          </a:prstGeom>
          <a:solidFill>
            <a:srgbClr val="16162A"/>
          </a:solidFill>
          <a:ln w="12700">
            <a:solidFill>
              <a:srgbClr val="3333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2103120"/>
            <a:ext cx="4389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6C5CE7"/>
                </a:solidFill>
                <a:latin typeface="Calibri"/>
              </a:defRPr>
            </a:pPr>
            <a:r>
              <a:t>Confounders in dataset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2468880"/>
            <a:ext cx="438912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E0E0E0"/>
                </a:solidFill>
                <a:latin typeface="Calibri"/>
              </a:defRPr>
            </a:pPr>
            <a:r>
              <a:t>Coffee intake        1–5 scale</a:t>
            </a:r>
            <a:br/>
            <a:r>
              <a:t>Alcohol use           1–4 scale</a:t>
            </a:r>
            <a:br/>
            <a:r>
              <a:t>Smoking               1–5 scale</a:t>
            </a:r>
            <a:br/>
            <a:r>
              <a:t>Exercise frequency    1–5 scale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43600" y="2011680"/>
            <a:ext cx="4846320" cy="2286000"/>
          </a:xfrm>
          <a:prstGeom prst="roundRect">
            <a:avLst/>
          </a:prstGeom>
          <a:solidFill>
            <a:srgbClr val="0D201C"/>
          </a:solidFill>
          <a:ln w="12700">
            <a:solidFill>
              <a:srgbClr val="3333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217920" y="2103120"/>
            <a:ext cx="4389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00D4AA"/>
                </a:solidFill>
                <a:latin typeface="Calibri"/>
              </a:defRPr>
            </a:pPr>
            <a:r>
              <a:t>Our approach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17920" y="2468880"/>
            <a:ext cx="438912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E0E0E0"/>
                </a:solidFill>
                <a:latin typeface="Calibri"/>
              </a:defRPr>
            </a:pPr>
            <a:r>
              <a:t>• Residualize features against confounders</a:t>
            </a:r>
            <a:br/>
            <a:r>
              <a:t>• Report both raw and adjusted effect sizes</a:t>
            </a:r>
            <a:br/>
            <a:r>
              <a:t>• Flag features where d drops &gt;30% after adjustment</a:t>
            </a:r>
            <a:br/>
            <a:r>
              <a:t>• FAIR-compliant output: full provenance for each finding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45720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888888"/>
                </a:solidFill>
                <a:latin typeface="Calibri"/>
              </a:defRPr>
            </a:pPr>
            <a:r>
              <a:t>Every discovery includes: raw effect, adjusted effect, confounders controlled, CI, permutation p-value, FDR status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00D4AA"/>
                </a:solidFill>
                <a:latin typeface="Calibri"/>
              </a:defRPr>
            </a:pPr>
            <a:r>
              <a:t>What's Next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188720"/>
            <a:ext cx="2286000" cy="1371600"/>
          </a:xfrm>
          <a:prstGeom prst="roundRect">
            <a:avLst/>
          </a:prstGeom>
          <a:solidFill>
            <a:srgbClr val="0D201C"/>
          </a:solidFill>
          <a:ln w="12700">
            <a:solidFill>
              <a:srgbClr val="3333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234440"/>
            <a:ext cx="2103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Calibri"/>
              </a:defRPr>
            </a:pPr>
            <a:r>
              <a:t>Hackathon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737360"/>
            <a:ext cx="2103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888888"/>
                </a:solidFill>
                <a:latin typeface="Calibri"/>
              </a:defRPr>
            </a:pPr>
            <a:r>
              <a:t>Discovery +</a:t>
            </a:r>
            <a:br/>
            <a:r>
              <a:t>validation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017520" y="1554480"/>
            <a:ext cx="548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0">
                <a:solidFill>
                  <a:srgbClr val="00D4AA"/>
                </a:solidFill>
                <a:latin typeface="Calibri"/>
              </a:defRPr>
            </a:pPr>
            <a:r>
              <a:t>→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566160" y="1188720"/>
            <a:ext cx="2286000" cy="1371600"/>
          </a:xfrm>
          <a:prstGeom prst="roundRect">
            <a:avLst/>
          </a:prstGeom>
          <a:solidFill>
            <a:srgbClr val="1A1530"/>
          </a:solidFill>
          <a:ln w="12700">
            <a:solidFill>
              <a:srgbClr val="3333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0" y="1234440"/>
            <a:ext cx="2103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Calibri"/>
              </a:defRPr>
            </a:pPr>
            <a:r>
              <a:t>Clinical</a:t>
            </a:r>
            <a:br/>
            <a:r>
              <a:t>Validation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0" y="1737360"/>
            <a:ext cx="2103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888888"/>
                </a:solidFill>
                <a:latin typeface="Calibri"/>
              </a:defRPr>
            </a:pPr>
            <a:r>
              <a:t>Prospective study</a:t>
            </a:r>
            <a:br/>
            <a:r>
              <a:t>with Uni of Hamburg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852160" y="1554480"/>
            <a:ext cx="548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0">
                <a:solidFill>
                  <a:srgbClr val="00D4AA"/>
                </a:solidFill>
                <a:latin typeface="Calibri"/>
              </a:defRPr>
            </a:pPr>
            <a:r>
              <a:t>→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0" y="1188720"/>
            <a:ext cx="2286000" cy="1371600"/>
          </a:xfrm>
          <a:prstGeom prst="roundRect">
            <a:avLst/>
          </a:prstGeom>
          <a:solidFill>
            <a:srgbClr val="1A1530"/>
          </a:solidFill>
          <a:ln w="12700">
            <a:solidFill>
              <a:srgbClr val="3333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92240" y="1234440"/>
            <a:ext cx="2103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Calibri"/>
              </a:defRPr>
            </a:pPr>
            <a:r>
              <a:t>Pharma Pilot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92240" y="1737360"/>
            <a:ext cx="2103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888888"/>
                </a:solidFill>
                <a:latin typeface="Calibri"/>
              </a:defRPr>
            </a:pPr>
            <a:r>
              <a:t>Discovery engine for</a:t>
            </a:r>
            <a:br/>
            <a:r>
              <a:t>digital endpoints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0" y="1554480"/>
            <a:ext cx="548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0">
                <a:solidFill>
                  <a:srgbClr val="00D4AA"/>
                </a:solidFill>
                <a:latin typeface="Calibri"/>
              </a:defRPr>
            </a:pPr>
            <a:r>
              <a:t>→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235440" y="1188720"/>
            <a:ext cx="2286000" cy="1371600"/>
          </a:xfrm>
          <a:prstGeom prst="roundRect">
            <a:avLst/>
          </a:prstGeom>
          <a:solidFill>
            <a:srgbClr val="1A1530"/>
          </a:solidFill>
          <a:ln w="12700">
            <a:solidFill>
              <a:srgbClr val="3333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326880" y="1234440"/>
            <a:ext cx="2103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Calibri"/>
              </a:defRPr>
            </a:pPr>
            <a:r>
              <a:t>SaMD Filing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326880" y="1737360"/>
            <a:ext cx="2103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888888"/>
                </a:solidFill>
                <a:latin typeface="Calibri"/>
              </a:defRPr>
            </a:pPr>
            <a:r>
              <a:t>Frozen model →</a:t>
            </a:r>
            <a:br/>
            <a:r>
              <a:t>Health Canada Class II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31520" y="3017520"/>
            <a:ext cx="10515600" cy="914400"/>
          </a:xfrm>
          <a:prstGeom prst="roundRect">
            <a:avLst/>
          </a:prstGeom>
          <a:solidFill>
            <a:srgbClr val="0D201C"/>
          </a:solidFill>
          <a:ln w="12700">
            <a:solidFill>
              <a:srgbClr val="3333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05840" y="310896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700" b="0">
                <a:solidFill>
                  <a:srgbClr val="00D4AA"/>
                </a:solidFill>
                <a:latin typeface="Calibri"/>
              </a:defRPr>
            </a:pPr>
            <a:r>
              <a:t>Detect physiological destabilization from a wrist — intervene on sleep before patients drop out.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05840" y="3566160"/>
            <a:ext cx="10058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888888"/>
                </a:solidFill>
                <a:latin typeface="Calibri"/>
              </a:defRPr>
            </a:pPr>
            <a:r>
              <a:t>FAIR-compliant outputs • Confounder-controlled • Full provenance trail for every discovery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37160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5400" b="1">
                <a:solidFill>
                  <a:srgbClr val="FFFFFF"/>
                </a:solidFill>
                <a:latin typeface="Calibri"/>
              </a:defRPr>
            </a:pPr>
            <a:r>
              <a:t>AutoBiomarker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246888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0">
                <a:solidFill>
                  <a:srgbClr val="00D4AA"/>
                </a:solidFill>
                <a:latin typeface="Calibri"/>
              </a:defRPr>
            </a:pPr>
            <a:r>
              <a:t>Autonomous discovery of physiological destabilization</a:t>
            </a:r>
            <a:br/>
            <a:r>
              <a:t>from wearable data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828800" y="3474720"/>
            <a:ext cx="8229600" cy="1097280"/>
          </a:xfrm>
          <a:prstGeom prst="roundRect">
            <a:avLst/>
          </a:prstGeom>
          <a:solidFill>
            <a:srgbClr val="1A1530"/>
          </a:solidFill>
          <a:ln w="12700">
            <a:solidFill>
              <a:srgbClr val="3333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103120" y="3566160"/>
            <a:ext cx="76809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E0E0E0"/>
                </a:solidFill>
                <a:latin typeface="Calibri"/>
              </a:defRPr>
            </a:pPr>
            <a:r>
              <a:t>"Detect sleep and HRV destabilization early.</a:t>
            </a:r>
            <a:br/>
            <a:r>
              <a:t>Treat sleep — and hit two birds with one stone."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502920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888888"/>
                </a:solidFill>
                <a:latin typeface="Calibri"/>
              </a:defRPr>
            </a:pPr>
            <a:r>
              <a:t>Toronto  •  In collaboration with Prof. Dr. Steffen Moritz, Uni of Hamburg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