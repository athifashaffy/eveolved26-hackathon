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AutoBiomarker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88"/>
                </a:solidFill>
                <a:latin typeface="Calibri"/>
              </a:defRPr>
            </a:pPr>
            <a:r>
              <a:t>Autonomous Discovery of Depression Early Warning Signals</a:t>
            </a:r>
            <a:br/>
            <a:r>
              <a:t>from Wearable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Evolved26 Toronto —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Nebius Token Factory  •  Karpathy Autoresearch  •  Temporal Dynamics Theory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280M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people with depression globally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drop out of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of depressed patients</a:t>
            </a:r>
            <a:br/>
            <a:r>
              <a:t>have sleep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10058400" cy="164592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Depression is gradual — patients don't "fall into" it, they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B6B"/>
                </a:solidFill>
                <a:latin typeface="Calibri"/>
              </a:defRPr>
            </a:pPr>
            <a:r>
              <a:t>By the time they report worsening, they've often dropped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  <a:latin typeface="Calibri"/>
              </a:defRPr>
            </a:pPr>
            <a:r>
              <a:t>But sleep and physiology destabilize before patients notice — and sleep is treatable.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The Insight: Destabilization Before Decline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109728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Calibri"/>
              </a:defRPr>
            </a:pPr>
            <a:r>
              <a:t>Depression worsens gradually. But as physiological regulation weakens,</a:t>
            </a:r>
            <a:br/>
            <a:r>
              <a:t>the body shows measurable signs: sleep becomes irregular, HRV becomes erratic, recovery slows.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4846320" cy="201168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Known from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Systems under stress show rising variability</a:t>
            </a:r>
            <a:br/>
            <a:r>
              <a:t>and sluggish recovery — "critical slowing down"</a:t>
            </a:r>
            <a:br/>
            <a:br/>
            <a:r>
              <a:t>Proven in: Ecology • Climate • Finance • Mood (PNAS 2014)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560320"/>
            <a:ext cx="4846320" cy="201168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Our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The same temporal patterns in wearable data</a:t>
            </a:r>
            <a:br/>
            <a:r>
              <a:t>can flag when a patient's regulation is destabilizing</a:t>
            </a:r>
            <a:br/>
            <a:br/>
            <a:r>
              <a:t>Not a sudden tipping point — a gradual loss of stability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  <a:latin typeface="Calibri"/>
              </a:defRPr>
            </a:pPr>
            <a:r>
              <a:t>What Everyone Measures vs. What We Measure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846320" cy="182880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88888"/>
                </a:solidFill>
                <a:latin typeface="Calibri"/>
              </a:defRPr>
            </a:pPr>
            <a:r>
              <a:t>Standard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How low is your HRV?</a:t>
            </a:r>
            <a:br/>
            <a:br/>
            <a:r>
              <a:t>Single timepoint, cross-sectional</a:t>
            </a:r>
            <a:br/>
            <a:r>
              <a:t>Small effect sizes (d ≈ 0.3)</a:t>
            </a:r>
            <a:br/>
            <a:r>
              <a:t>Depression-specific? No — stress marker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4846320" cy="18288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How unstable is your physiology over time?</a:t>
            </a:r>
            <a:br/>
            <a:br/>
            <a:r>
              <a:t>Temporal dynamics: autocorrelation, variance, CV</a:t>
            </a:r>
            <a:br/>
            <a:r>
              <a:t>Day-to-day patterns across 28 days</a:t>
            </a:r>
            <a:br/>
            <a:r>
              <a:t>Transdiagnostic — tracks stress regulation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058400" cy="109728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HRV and sleep are transdiagnostic stress markers (not depression-specific).</a:t>
            </a:r>
            <a:br/>
            <a:r>
              <a:t>This is a strength: our system monitors overall physiological regulation,</a:t>
            </a:r>
            <a:br/>
            <a:r>
              <a:t>with sleep as a directly treatable intervention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The Autoresearch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Adapted from Karpathy's autoresearch for biomarker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2103120" cy="118872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Hypothesis</a:t>
            </a:r>
            <a:br/>
            <a:r>
              <a:t>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Llama 3.3 70B</a:t>
            </a:r>
            <a:br/>
            <a:r>
              <a:t>on Nebius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463040"/>
            <a:ext cx="2103120" cy="118872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Extractor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187+ temporal</a:t>
            </a:r>
            <a:br/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2103120" cy="118872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Statistical</a:t>
            </a:r>
            <a:br/>
            <a:r>
              <a:t>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LOSO-CV,</a:t>
            </a:r>
            <a:br/>
            <a:r>
              <a:t>AUC, FDR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463040"/>
            <a:ext cx="2103120" cy="118872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KEEP /</a:t>
            </a:r>
            <a:br/>
            <a:r>
              <a:t>DISCARD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← ← ← ← ← ← ← ← ← Results feed back into hypothesis generation ← ← ← ← ← ← ← ← 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566160"/>
            <a:ext cx="10058400" cy="73152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6576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Set it up before sleep. Wake up to 5,000 hypotheses tested with full statistical rigor.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Results: Baigutanova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feature-tests run autonomously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significant after FDR</a:t>
            </a:r>
            <a:br/>
            <a:r>
              <a:t>(p_adj &lt; 0.05)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0.76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best interaction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10058400" cy="18288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Top: LF/HF 21d slope x sleep quality — AUC 0.76, d=1.06, p_adj=0.02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Also: RMSSD slope x sleep dur autocorr (d=1.11, p_adj=0.006), RMSSD slope x LF/HF slope (d=0.92, p_adj=0.004)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All significant features are HRV x sleep interactions — multi-system destabilization is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50 LLM-guided rounds (271 tests), per-round BH-FDR at n=49. Total LLM cost: $0.22.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AA"/>
                </a:solidFill>
                <a:latin typeface="Calibri"/>
              </a:defRPr>
            </a:pPr>
            <a:r>
              <a:t>Trained Prediction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0.76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AUC (best interaction)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0.69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AUC (LOSO-CV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05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subjects (LOSO-CV)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029200" cy="219456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Feature selection INSIDE each CV fold (no leakage)</a:t>
            </a:r>
            <a:br/>
            <a:r>
              <a:t>• Leave-one-subject-out cross-validation</a:t>
            </a:r>
            <a:br/>
            <a:r>
              <a:t>• 732 candidate features → 50 selected per fold</a:t>
            </a:r>
            <a:br/>
            <a:r>
              <a:t>• MLP Neural Net + autoresearch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60320"/>
            <a:ext cx="5029200" cy="219456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Significant Interactions (FDR&lt;0.05)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LF/HF slope × sleep quality (AUC 0.76, d=1.06)</a:t>
            </a:r>
            <a:br/>
            <a:r>
              <a:t>• RMSSD slope × sleep dur autocorr (d=1.11)</a:t>
            </a:r>
            <a:br/>
            <a:r>
              <a:t>• RMSSD slope × LF/HF slope (d=0.92)</a:t>
            </a:r>
            <a:br/>
            <a:r>
              <a:t>• LF/HF slope × sleep latency (AUC 0.70)</a:t>
            </a:r>
            <a:br/>
            <a:r>
              <a:t>• All cross HRV × sleep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Calibri"/>
              </a:defRPr>
            </a:pPr>
            <a:r>
              <a:t>HRV × sleep interactions outperform single features — multi-system destabilization is the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AA"/>
                </a:solidFill>
                <a:latin typeface="Calibri"/>
              </a:defRPr>
            </a:pPr>
            <a:r>
              <a:t>Self-Improving Discovery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2103120" cy="100584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43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Broad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097280"/>
            <a:ext cx="2103120" cy="100584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143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5,000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600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137 promising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97280"/>
            <a:ext cx="2103120" cy="100584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143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Feed back</a:t>
            </a:r>
            <a:br/>
            <a:r>
              <a:t>to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Top findings + nulls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097280"/>
            <a:ext cx="2103120" cy="100584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143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Calibri"/>
              </a:defRPr>
            </a:pPr>
            <a:r>
              <a:t>50 rounds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1600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3 significant!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60320"/>
            <a:ext cx="4846320" cy="137160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88"/>
                </a:solidFill>
                <a:latin typeface="Calibri"/>
              </a:defRPr>
            </a:pPr>
            <a:r>
              <a:t>Round 1 (broad)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260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5,000 hypotheses • 137 promising pre-FDR</a:t>
            </a:r>
            <a:br/>
            <a:r>
              <a:t>0 after strict BH-FDR across 5,000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560320"/>
            <a:ext cx="4846320" cy="13716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Rounds 2-50 (LLM-guided)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271 targeted hypotheses • 3 survived FDR</a:t>
            </a:r>
            <a:br/>
            <a:r>
              <a:t>Best: lfhf_slope × sleep_qual (AUC 0.76)</a:t>
            </a:r>
            <a:br/>
            <a:r>
              <a:t>Total cost: $0.22 on Nebius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Small rounds (8 tests) keep FDR mild. LLM adapts each round. $0.22 total for 50 rounds of discovery.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Why This Matters Clinically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515600" cy="118872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Calibri"/>
              </a:defRPr>
            </a:pPr>
            <a:r>
              <a:t>"The good thing with sleep problems is: if you treat them it hits two birds</a:t>
            </a:r>
            <a:br/>
            <a:r>
              <a:t>with one stone — a bothering problem that also triggers other symptoms."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— Prof. Dr. Steffen Moritz, Uni of Hamburg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4846320" cy="182880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The Problem with Biomarkers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Predictive value of single biomarkers is never high</a:t>
            </a:r>
            <a:br/>
            <a:r>
              <a:t>• Depression is gradual, not a sudden episode</a:t>
            </a:r>
            <a:br/>
            <a:r>
              <a:t>• HRV/sleep are stress markers, not depression-specific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560320"/>
            <a:ext cx="4846320" cy="18288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Our Answer: Monitor + Intervene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Detect sleep destabilization early from wearables</a:t>
            </a:r>
            <a:br/>
            <a:r>
              <a:t>• Sleep is directly treatable (CBT-I, hygiene, meds)</a:t>
            </a:r>
            <a:br/>
            <a:r>
              <a:t>• Treating sleep improves depression, anxiety, stress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515600" cy="73152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We don't diagnose depression. We flag physiological destabilization — especially sleep —</a:t>
            </a:r>
            <a:br/>
            <a:r>
              <a:t>so clinicians can intervene before patients drop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Two Products, One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846320" cy="27432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Product 1: Discovery Engine (R&amp;D 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The autoresearch loop — sold to pharma for</a:t>
            </a:r>
            <a:br/>
            <a:r>
              <a:t>digital endpoint discovery in clinical trials</a:t>
            </a:r>
            <a:br/>
            <a:br/>
            <a:r>
              <a:t>• Not a medical device — internal R&amp;D tool</a:t>
            </a:r>
            <a:br/>
            <a:r>
              <a:t>• No regulatory burden on discovery process</a:t>
            </a:r>
            <a:br/>
            <a:r>
              <a:t>• Revenue: per-trial licensing to pharma CROs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097280"/>
            <a:ext cx="4846320" cy="274320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Product 2: Monitoring Dashboard (SaMD)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Static, validated model for clinical monitoring</a:t>
            </a:r>
            <a:br/>
            <a:br/>
            <a:r>
              <a:t>• Health Canada SaMD Class II</a:t>
            </a:r>
            <a:br/>
            <a:r>
              <a:t>• Locked model — no autonomous changes</a:t>
            </a:r>
            <a:br/>
            <a:r>
              <a:t>• Clinical decision support, not diagnosis</a:t>
            </a:r>
            <a:br/>
            <a:r>
              <a:t>• Revenue: per-patient SaaS to 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515600" cy="91440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The discovery engine evolves freely. The clinical product is a snapshot —</a:t>
            </a:r>
            <a:br/>
            <a:r>
              <a:t>frozen, validated, regulatable. New discoveries trigger a new submission, not a moving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Confounder-Aware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515600" cy="64008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6B6B"/>
                </a:solidFill>
                <a:latin typeface="Calibri"/>
              </a:defRPr>
            </a:pPr>
            <a:r>
              <a:t>A "depression signal" in HRV might actually be caffeine, alcohol, or exercise.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846320" cy="228600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Confounders in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Coffee intake        1–5 scale</a:t>
            </a:r>
            <a:br/>
            <a:r>
              <a:t>Alcohol use           1–4 scale</a:t>
            </a:r>
            <a:br/>
            <a:r>
              <a:t>Smoking               1–5 scale</a:t>
            </a:r>
            <a:br/>
            <a:r>
              <a:t>Exercise frequency    1–5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4846320" cy="22860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Residualize features against confounders</a:t>
            </a:r>
            <a:br/>
            <a:r>
              <a:t>• Report both raw and adjusted effect sizes</a:t>
            </a:r>
            <a:br/>
            <a:r>
              <a:t>• Flag features where d drops &gt;30% after adjustment</a:t>
            </a:r>
            <a:br/>
            <a:r>
              <a:t>• FAIR-compliant output: full provenance for each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Every discovery includes: raw effect, adjusted effect, confounders controlled, CI, permutation p-value, FDR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13716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Discovery +</a:t>
            </a:r>
            <a:br/>
            <a: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188720"/>
            <a:ext cx="2286000" cy="137160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Clinical</a:t>
            </a:r>
            <a:br/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Prospective study</a:t>
            </a:r>
            <a:br/>
            <a:r>
              <a:t>with Uni of Hamburg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286000" cy="137160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Pharma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Discovery engine for</a:t>
            </a:r>
            <a:br/>
            <a:r>
              <a:t>digital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88720"/>
            <a:ext cx="2286000" cy="137160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SaMD Filing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Frozen model →</a:t>
            </a:r>
            <a:br/>
            <a:r>
              <a:t>Health Canada Class II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10515600" cy="914400"/>
          </a:xfrm>
          <a:prstGeom prst="roundRect">
            <a:avLst/>
          </a:prstGeom>
          <a:solidFill>
            <a:srgbClr val="0D201C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D4AA"/>
                </a:solidFill>
                <a:latin typeface="Calibri"/>
              </a:defRPr>
            </a:pPr>
            <a:r>
              <a:t>Detect physiological destabilization from a wrist — intervene on sleep before patients drop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FAIR-compliant outputs • Confounder-controlled • Full provenance trail for every discovery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AutoBiomarker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Calibri"/>
              </a:defRPr>
            </a:pPr>
            <a:r>
              <a:t>Autonomous discovery of physiological destabilization</a:t>
            </a:r>
            <a:br/>
            <a:r>
              <a:t>from wearable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474720"/>
            <a:ext cx="8229600" cy="1097280"/>
          </a:xfrm>
          <a:prstGeom prst="roundRect">
            <a:avLst/>
          </a:prstGeom>
          <a:solidFill>
            <a:srgbClr val="1A1530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5661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"Detect sleep and HRV destabilization early.</a:t>
            </a:r>
            <a:br/>
            <a:r>
              <a:t>Treat sleep — and hit two birds with one stone."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Toronto  •  In collaboration with Prof. Dr. Steffen Moritz, Uni of Hamburg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